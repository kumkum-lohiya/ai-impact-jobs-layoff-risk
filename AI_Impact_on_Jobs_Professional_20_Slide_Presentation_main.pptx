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77240" y="868680"/>
            <a:ext cx="6949440" cy="5029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1800" b="1">
                <a:solidFill>
                  <a:srgbClr val="26BECC"/>
                </a:solidFill>
                <a:latin typeface="Aptos"/>
              </a:defRPr>
            </a:pPr>
            <a:r>
              <a:rPr sz="4000" dirty="0"/>
              <a:t>AI IMPACT ON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7315200" cy="1417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F8FAFD"/>
                </a:solidFill>
                <a:latin typeface="Aptos"/>
              </a:defRPr>
            </a:pPr>
            <a:r>
              <a:rPr sz="1700" dirty="0"/>
              <a:t>Layoff Risk Prediction</a:t>
            </a:r>
            <a:r>
              <a:rPr lang="en-US" sz="1700" dirty="0"/>
              <a:t> </a:t>
            </a:r>
            <a:r>
              <a:rPr sz="1700" dirty="0"/>
              <a:t>Using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3063240"/>
            <a:ext cx="713232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500" b="0">
                <a:solidFill>
                  <a:srgbClr val="A6B5C9"/>
                </a:solidFill>
                <a:latin typeface="Aptos"/>
              </a:defRPr>
            </a:pPr>
            <a:r>
              <a:rPr sz="1700"/>
              <a:t>Supervised Multi-Class Classification • XGBoost • Streamlit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4160520"/>
            <a:ext cx="205740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77240" y="4160520"/>
            <a:ext cx="54864" cy="11430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4270248"/>
            <a:ext cx="17373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DATASET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20,000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63240" y="4160520"/>
            <a:ext cx="205740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063240" y="4160520"/>
            <a:ext cx="54864" cy="114300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4270248"/>
            <a:ext cx="17373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TARGET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3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risk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4160520"/>
            <a:ext cx="205740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5349240" y="4160520"/>
            <a:ext cx="54864" cy="114300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32120" y="4270248"/>
            <a:ext cx="1737360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BEST MODEL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95.975%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Tuned XGBoost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32520" y="4069081"/>
            <a:ext cx="2743200" cy="188507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200" b="1">
                <a:solidFill>
                  <a:srgbClr val="F8FAFD"/>
                </a:solidFill>
                <a:latin typeface="Aptos"/>
              </a:defRPr>
            </a:pPr>
            <a:endParaRPr lang="en-US" sz="1700" dirty="0"/>
          </a:p>
        </p:txBody>
      </p:sp>
      <p:sp>
        <p:nvSpPr>
          <p:cNvPr id="15" name="TextBox 14"/>
          <p:cNvSpPr txBox="1"/>
          <p:nvPr/>
        </p:nvSpPr>
        <p:spPr>
          <a:xfrm>
            <a:off x="8366760" y="2468880"/>
            <a:ext cx="274320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ctr">
              <a:defRPr sz="1200" b="1">
                <a:solidFill>
                  <a:srgbClr val="26BECC"/>
                </a:solidFill>
                <a:latin typeface="Aptos"/>
              </a:defRPr>
            </a:pPr>
            <a:endParaRPr sz="1700" dirty="0"/>
          </a:p>
        </p:txBody>
      </p:sp>
      <p:sp>
        <p:nvSpPr>
          <p:cNvPr id="20" name="TextBox 19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From job-profile data to an interpretable layoff-risk prediction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29184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971800" cy="105156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INPUT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Job Profile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Demographic, educational, occupational, organisational, task and AI attributes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329184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88036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2990088"/>
            <a:ext cx="2971800" cy="105156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TASK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3-Class Classification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Predict High, Medium or Low Layoff_Risk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34840"/>
            <a:ext cx="329184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443484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4544568"/>
            <a:ext cx="2971800" cy="105156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OUTPUT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Risk + Probability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Interactive analytical estimate through Streamlit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331720"/>
            <a:ext cx="182880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572000" y="233172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754880" y="2441448"/>
            <a:ext cx="15087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Data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446520" y="2761488"/>
            <a:ext cx="502920" cy="292608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629400" y="2331720"/>
            <a:ext cx="182880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629400" y="233172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2441448"/>
            <a:ext cx="15087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ML Pipeline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503920" y="2761488"/>
            <a:ext cx="502920" cy="292608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823960" y="2331720"/>
            <a:ext cx="182880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823960" y="2331720"/>
            <a:ext cx="54864" cy="123444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06840" y="2441448"/>
            <a:ext cx="15087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Risk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069080"/>
            <a:ext cx="658368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20,000 records • 16 columns • 15 predictors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Clean target distribution: High 33.98%, Low 33.01%, Medium 33.01%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Best reported test accuracy: 95.975% with tuned XGBoost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Notebook experiment + separate interactive Streamlit application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 dirty="0"/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Why predict layoff-risk categories?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329184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7160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81328"/>
            <a:ext cx="2971800" cy="105156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 dirty="0"/>
              <a:t>CONTEXT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 dirty="0"/>
              <a:t>AI + Automation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 dirty="0"/>
              <a:t>Routine tasks and job structures are changing.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3291840" cy="1664208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59" y="3044600"/>
            <a:ext cx="45719" cy="1444752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035808"/>
            <a:ext cx="2971800" cy="1527048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 dirty="0"/>
              <a:t>CHALLENGE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 dirty="0"/>
              <a:t>Unequal Exposure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 dirty="0"/>
              <a:t>Different roles depend differently on routine work, creativity and human interaction.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828032"/>
            <a:ext cx="3291840" cy="1481328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" y="4869180"/>
            <a:ext cx="45719" cy="144018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8" y="4910328"/>
            <a:ext cx="3108961" cy="105156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 dirty="0"/>
              <a:t>ML FORMULATION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 dirty="0"/>
              <a:t>High / Medium / Low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 dirty="0"/>
              <a:t>A multiclass classification problem using job-profile attributes.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48840"/>
            <a:ext cx="182880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F8FAFD"/>
                </a:solidFill>
                <a:latin typeface="Aptos"/>
              </a:defRPr>
            </a:pPr>
            <a:r>
              <a:rPr sz="1700"/>
              <a:t>Job Profile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446520" y="2240280"/>
            <a:ext cx="640080" cy="347472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32320" y="1965960"/>
            <a:ext cx="192024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800" b="1">
                <a:solidFill>
                  <a:srgbClr val="F8FAFD"/>
                </a:solidFill>
                <a:latin typeface="Aptos"/>
              </a:defRPr>
            </a:pPr>
            <a:r>
              <a:rPr sz="1700"/>
              <a:t>Preprocessing</a:t>
            </a:r>
            <a:br/>
            <a:r>
              <a:rPr sz="1700"/>
              <a:t>+ Classifier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144000" y="2240280"/>
            <a:ext cx="640080" cy="347472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32500" lnSpcReduction="20000"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765792" y="2162556"/>
            <a:ext cx="16459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000" b="1">
                <a:solidFill>
                  <a:srgbClr val="3BB17B"/>
                </a:solidFill>
                <a:latin typeface="Aptos"/>
              </a:defRPr>
            </a:pPr>
            <a:r>
              <a:rPr sz="1700" dirty="0" err="1">
                <a:solidFill>
                  <a:schemeClr val="bg1"/>
                </a:solidFill>
              </a:rPr>
              <a:t>Layoff_Risk</a:t>
            </a:r>
            <a:endParaRPr sz="1700" dirty="0">
              <a:solidFill>
                <a:schemeClr val="bg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0" y="3886200"/>
            <a:ext cx="6400800" cy="1554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The project is designed for analytical workforce-risk research.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It combines numerical and categorical predictors rather than relying on a single factor.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The output is a model estimate—not a guaranteed employment outcome.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Project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endParaRPr sz="1700" dirty="0"/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9601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4846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01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Explore dataset structure and target distribution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325880"/>
            <a:ext cx="54864" cy="9601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435607"/>
            <a:ext cx="4846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02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Build a reproducible preprocessing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96312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2496312"/>
            <a:ext cx="54864" cy="9601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2606040"/>
            <a:ext cx="4846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03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Train and compare multiple classifiers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496312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17920" y="2496312"/>
            <a:ext cx="54864" cy="960120"/>
          </a:xfrm>
          <a:prstGeom prst="rect">
            <a:avLst/>
          </a:prstGeom>
          <a:solidFill>
            <a:srgbClr val="E7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0" y="2606040"/>
            <a:ext cx="4846320" cy="7772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04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Evaluate accuracy, precision, recall, F1 and confusion matrices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66744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666744"/>
            <a:ext cx="54864" cy="9601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776472"/>
            <a:ext cx="4846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05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Validate XGBoost with five-fold StratifiedKFold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66744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217920" y="3666744"/>
            <a:ext cx="54864" cy="9601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400800" y="3776472"/>
            <a:ext cx="4846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06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Tune XGBoost using RandomizedSearchCV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837176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" y="4837176"/>
            <a:ext cx="54864" cy="9601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22959" y="4946904"/>
            <a:ext cx="4846320" cy="777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07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Interpret the final model using feature importance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837176"/>
            <a:ext cx="5166360" cy="9601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4837176"/>
            <a:ext cx="54864" cy="960120"/>
          </a:xfrm>
          <a:prstGeom prst="rect">
            <a:avLst/>
          </a:prstGeom>
          <a:solidFill>
            <a:srgbClr val="E7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4946904"/>
            <a:ext cx="4846320" cy="7772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OBJECTIVE 08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Extend the workflow through an interactive Streamlit dashboard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20,000 records • 16 columns • 3 target classes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03720" y="1325880"/>
            <a:ext cx="196596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903720" y="1325880"/>
            <a:ext cx="54864" cy="11430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086600" y="1435607"/>
            <a:ext cx="1645919" cy="9601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RECORDS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20,000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employee/job records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98280" y="1325880"/>
            <a:ext cx="196596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98280" y="1325880"/>
            <a:ext cx="54864" cy="11430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59" y="1435607"/>
            <a:ext cx="1645919" cy="9601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COLUMNS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16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15 predictors + target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2697480"/>
            <a:ext cx="196596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903720" y="2697480"/>
            <a:ext cx="54864" cy="11430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086600" y="2807208"/>
            <a:ext cx="1645919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MISSING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reported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98280" y="2697480"/>
            <a:ext cx="1965960" cy="11430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098280" y="2697480"/>
            <a:ext cx="54864" cy="11430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281159" y="2807208"/>
            <a:ext cx="1645919" cy="960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DUPLICATES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reported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4160520"/>
            <a:ext cx="4297680" cy="141732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/>
              <a:t>Target: Layoff_Risk</a:t>
            </a:r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/>
              <a:t>High = 6,797 (33.98%)</a:t>
            </a:r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/>
              <a:t>Low = 6,602 (33.01%)</a:t>
            </a:r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/>
              <a:t>Medium = 6,601 (33.01%)</a:t>
            </a:r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/>
              <a:t>Approximately balanced classes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05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E5F62C5A-A896-42A8-A164-C6DD002D456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1792" y="1435607"/>
            <a:ext cx="5752278" cy="414223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Feature Space &amp;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Numerical and categorical branches are handled differently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5166360" cy="42519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42519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4846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NUMERICAL FEATURES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600"/>
              <a:t>Age</a:t>
            </a:r>
            <a:br/>
            <a:r>
              <a:rPr sz="1600"/>
              <a:t>Years_of_Experience</a:t>
            </a:r>
            <a:br/>
            <a:r>
              <a:rPr sz="1600"/>
              <a:t>Routine_Task_Percentage</a:t>
            </a:r>
            <a:br/>
            <a:r>
              <a:rPr sz="1600"/>
              <a:t>Creativity_Requirement</a:t>
            </a:r>
            <a:br/>
            <a:r>
              <a:rPr sz="1600"/>
              <a:t>Human_Interaction_Level</a:t>
            </a:r>
            <a:br/>
            <a:r>
              <a:rPr sz="1600"/>
              <a:t>Number_of_AI_Tools_Used</a:t>
            </a:r>
            <a:br/>
            <a:r>
              <a:rPr sz="1600"/>
              <a:t>AI_Usage_Hours_Per_Week</a:t>
            </a:r>
            <a:br/>
            <a:r>
              <a:rPr sz="1600"/>
              <a:t>Tasks_Automated_Percentage</a:t>
            </a:r>
            <a:br/>
            <a:r>
              <a:rPr sz="1600"/>
              <a:t>AI_Training_Hours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325880"/>
            <a:ext cx="5166360" cy="42519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126480" y="1325880"/>
            <a:ext cx="54864" cy="425196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09360" y="1435607"/>
            <a:ext cx="484632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CATEGORICAL FEATURES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Education_Level</a:t>
            </a:r>
            <a:br/>
            <a:r>
              <a:rPr sz="1700"/>
              <a:t>Industry</a:t>
            </a:r>
            <a:br/>
            <a:r>
              <a:rPr sz="1700"/>
              <a:t>Job_Role</a:t>
            </a:r>
            <a:br/>
            <a:r>
              <a:rPr sz="1700"/>
              <a:t>Company_Size</a:t>
            </a:r>
            <a:br/>
            <a:r>
              <a:rPr sz="1700"/>
              <a:t>Job_Level</a:t>
            </a:r>
            <a:br/>
            <a:r>
              <a:rPr sz="1700"/>
              <a:t>AI_Adoption_Level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06440"/>
            <a:ext cx="3246120" cy="6858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5806440"/>
            <a:ext cx="54864" cy="6858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5916168"/>
            <a:ext cx="2926079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NUMERICAL →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StandardScaler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977639" y="5961888"/>
            <a:ext cx="502920" cy="27432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526280" y="5806440"/>
            <a:ext cx="3246120" cy="6858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526280" y="5806440"/>
            <a:ext cx="54864" cy="68580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9160" y="5916168"/>
            <a:ext cx="2926079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CATEGORICAL →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OneHotEncoder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863840" y="5961888"/>
            <a:ext cx="502920" cy="27432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412480" y="5806440"/>
            <a:ext cx="2880360" cy="6858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412480" y="5806440"/>
            <a:ext cx="54864" cy="68580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595359" y="5916168"/>
            <a:ext cx="2560320" cy="5029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COMBINE →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ColumnTransformer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Data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Reproducible preprocessing inside the modelling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08760"/>
            <a:ext cx="333756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508760"/>
            <a:ext cx="54864" cy="14173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618488"/>
            <a:ext cx="30175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X / y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01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Separate Layoff_Risk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005072" y="2075688"/>
            <a:ext cx="384048" cy="27432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434840" y="1508760"/>
            <a:ext cx="333756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508760"/>
            <a:ext cx="54864" cy="14173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17720" y="1618488"/>
            <a:ext cx="30175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Split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02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80:20 stratified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99832" y="2075688"/>
            <a:ext cx="384048" cy="27432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29600" y="1508760"/>
            <a:ext cx="333756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229600" y="1508760"/>
            <a:ext cx="54864" cy="14173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80" y="1618488"/>
            <a:ext cx="30175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Scale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03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StandardScaler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74720"/>
            <a:ext cx="333756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" y="3474720"/>
            <a:ext cx="54864" cy="14173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2959" y="3584448"/>
            <a:ext cx="30175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Encode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04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OneHotEncoder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005072" y="4041648"/>
            <a:ext cx="384048" cy="27432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434840" y="3474720"/>
            <a:ext cx="333756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434840" y="3474720"/>
            <a:ext cx="54864" cy="14173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17720" y="3584448"/>
            <a:ext cx="30175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Combine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05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ColumnTransformer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799832" y="4041648"/>
            <a:ext cx="384048" cy="27432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229600" y="3474720"/>
            <a:ext cx="333756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229600" y="3474720"/>
            <a:ext cx="54864" cy="14173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80" y="3584448"/>
            <a:ext cx="301752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Pipeline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400"/>
              <a:t>06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Preprocessing +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10515600" cy="96012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200" dirty="0" err="1"/>
              <a:t>test_size</a:t>
            </a:r>
            <a:r>
              <a:rPr sz="1200" dirty="0"/>
              <a:t> = 0.2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200" dirty="0" err="1"/>
              <a:t>random_state</a:t>
            </a:r>
            <a:r>
              <a:rPr sz="1200" dirty="0"/>
              <a:t> = 42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200" dirty="0"/>
              <a:t>stratify = y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200" dirty="0" err="1"/>
              <a:t>OneHotEncoder</a:t>
            </a:r>
            <a:r>
              <a:rPr sz="1200" dirty="0"/>
              <a:t>(</a:t>
            </a:r>
            <a:r>
              <a:rPr sz="1200" dirty="0" err="1"/>
              <a:t>handle_unknown</a:t>
            </a:r>
            <a:r>
              <a:rPr sz="1200" dirty="0"/>
              <a:t>='ignore') supports unseen categories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End-to-End ML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The project moves from raw data to an interactive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0876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50876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1848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Dataset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496312" y="198424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834639" y="150876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4639" y="150876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17520" y="161848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Inspection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828031" y="198424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166359" y="150876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66359" y="150876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349240" y="161848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Preprocessing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159752" y="198424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7498079" y="150876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98079" y="150876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80959" y="161848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Train Models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9491472" y="198424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9829800" y="150876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829800" y="1508760"/>
            <a:ext cx="54864" cy="123444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012680" y="161848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Evaluation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52044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02920" y="352044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5800" y="363016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Cross-Validation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496312" y="399592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834639" y="352044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2834639" y="3520440"/>
            <a:ext cx="54864" cy="1234440"/>
          </a:xfrm>
          <a:prstGeom prst="rect">
            <a:avLst/>
          </a:prstGeom>
          <a:solidFill>
            <a:srgbClr val="E7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017520" y="363016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Tuning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28031" y="399592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5166359" y="352044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166359" y="3520440"/>
            <a:ext cx="54864" cy="123444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49240" y="363016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Final XGBoost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159752" y="399592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6" name="Rounded Rectangle 35"/>
          <p:cNvSpPr/>
          <p:nvPr/>
        </p:nvSpPr>
        <p:spPr>
          <a:xfrm>
            <a:off x="7498079" y="3520440"/>
            <a:ext cx="1965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7498079" y="352044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680959" y="3630168"/>
            <a:ext cx="164591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Streamlit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9491472" y="3995928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0" name="Right Arrow 39"/>
          <p:cNvSpPr/>
          <p:nvPr/>
        </p:nvSpPr>
        <p:spPr>
          <a:xfrm>
            <a:off x="10149840" y="2697480"/>
            <a:ext cx="292608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31520" y="5394960"/>
            <a:ext cx="10607040" cy="82296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/>
              <a:t>Validation strategy: five-fold StratifiedKFold with macro F1 scoring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/>
              <a:t>Model selection: tuned XGBoost based on the strongest reported performance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/>
              <a:t>Interpretation: transformed feature names paired with XGBoost feature_importances_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Classification Models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A broad comparison across model families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2514600" cy="23317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23317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2194560" cy="2148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Linear / Margin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Logistic Regression</a:t>
            </a:r>
            <a:br/>
            <a:r>
              <a:rPr sz="1700"/>
              <a:t>SVM (RBF)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514600" cy="23317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474720" y="1417320"/>
            <a:ext cx="54864" cy="23317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0" y="1527048"/>
            <a:ext cx="2194560" cy="2148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Tree / Bagging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Decision Tree</a:t>
            </a:r>
            <a:br/>
            <a:r>
              <a:rPr sz="1700"/>
              <a:t>Random Forest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417320"/>
            <a:ext cx="2514600" cy="23317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417320"/>
            <a:ext cx="54864" cy="23317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527048"/>
            <a:ext cx="2194560" cy="2148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Distance / Probabilistic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KNN (k=5)</a:t>
            </a:r>
            <a:br/>
            <a:r>
              <a:rPr sz="1700"/>
              <a:t>Gaussian Naive Bayes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2514600" cy="23317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9144000" y="1417320"/>
            <a:ext cx="54864" cy="2331720"/>
          </a:xfrm>
          <a:prstGeom prst="rect">
            <a:avLst/>
          </a:prstGeom>
          <a:solidFill>
            <a:srgbClr val="E7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326880" y="1527048"/>
            <a:ext cx="2194560" cy="21488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Boosting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Gradient Boosting</a:t>
            </a:r>
            <a:br/>
            <a:r>
              <a:rPr sz="1700"/>
              <a:t>AdaBoost</a:t>
            </a:r>
            <a:br/>
            <a:r>
              <a:rPr sz="1700"/>
              <a:t>XGBoost</a:t>
            </a:r>
            <a:br/>
            <a:r>
              <a:rPr sz="1700"/>
              <a:t>Tuned 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251960"/>
            <a:ext cx="1051560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The notebook's executed comparison contains 10 model results.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The strongest result is tuned XGBoost.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The Streamlit dashboard is intentionally a smaller interactive model set.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623560"/>
            <a:ext cx="2926080" cy="6858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77240" y="5623560"/>
            <a:ext cx="54864" cy="68580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60120" y="5733288"/>
            <a:ext cx="2606040" cy="50292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NOTEBOOK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10 models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broader experiment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5623560"/>
            <a:ext cx="2926080" cy="6858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977639" y="5623560"/>
            <a:ext cx="54864" cy="68580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160520" y="5733288"/>
            <a:ext cx="2606040" cy="50292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DASHBOARD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4 models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interactive layer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78040" y="5623560"/>
            <a:ext cx="3383280" cy="6858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178040" y="5623560"/>
            <a:ext cx="54864" cy="68580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360919" y="5733288"/>
            <a:ext cx="3063240" cy="50292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KEY DISTINCTION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Baseline XGBoost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dashboard ≠ tuned notebook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How the Models Were Evaluated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Metrics answer different questions about classification quality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3337560" cy="15087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54864" cy="15087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527048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Accuracy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Overall fraction of correct predictions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17320"/>
            <a:ext cx="3337560" cy="15087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434840" y="1417320"/>
            <a:ext cx="54864" cy="150876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17720" y="1527048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Precision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Reliability of predicted class labels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417320"/>
            <a:ext cx="3337560" cy="15087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54864" cy="150876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412480" y="1527048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Recall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Ability to capture actual class members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429000"/>
            <a:ext cx="3337560" cy="15087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3429000"/>
            <a:ext cx="54864" cy="15087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22959" y="3538728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F1-score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Balance of precision and recall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434840" y="3429000"/>
            <a:ext cx="3337560" cy="15087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434840" y="3429000"/>
            <a:ext cx="54864" cy="150876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617720" y="3538728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Macro F1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Equal weight to High, Low and Medium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0" y="3429000"/>
            <a:ext cx="3337560" cy="15087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229600" y="3429000"/>
            <a:ext cx="54864" cy="150876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3538728"/>
            <a:ext cx="3017520" cy="13258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Confusion Matrix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Where class-level errors occur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62356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500" b="0">
                <a:solidFill>
                  <a:srgbClr val="A6B5C9"/>
                </a:solidFill>
                <a:latin typeface="Aptos"/>
              </a:defRPr>
            </a:pPr>
            <a:r>
              <a:rPr sz="1700"/>
              <a:t>Because the target has three classes, macro-level metrics provide a useful class-balanced view.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Model Performance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Test accuracy from the executed notebook comparison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0" y="1371600"/>
            <a:ext cx="2971800" cy="137160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229600" y="1371600"/>
            <a:ext cx="54864" cy="137160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481328"/>
            <a:ext cx="2651760" cy="11887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BEST MODEL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95.975%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Tuned XGBoost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2971800"/>
            <a:ext cx="297180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229600" y="297180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3081528"/>
            <a:ext cx="26517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BASELINE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94.625%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XGBoost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4434840"/>
            <a:ext cx="297180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443484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4544568"/>
            <a:ext cx="265176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TUNING GAIN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+1.35 pp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95.975% − 94.625%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943600"/>
            <a:ext cx="10698480" cy="4114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ctr">
              <a:defRPr sz="1100" b="0">
                <a:solidFill>
                  <a:srgbClr val="A6B5C9"/>
                </a:solidFill>
                <a:latin typeface="Aptos"/>
              </a:defRPr>
            </a:pPr>
            <a:r>
              <a:rPr sz="1600"/>
              <a:t>Ranking: Tuned XGBoost → XGBoost → SVM → Logistic Regression → Gradient Boosting → Random Forest → Decision Tree → KNN → AdaBoost → Naive Bayes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11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4747DCB3-036C-45CA-899E-513B8D66E0CD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731520" y="1555686"/>
            <a:ext cx="6894576" cy="404044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Model Comparison: What the Results Tell 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Performance pattern across different modelling assumptions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291840" cy="132588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32588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971800" cy="1143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BOOSTING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Strongest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Tuned XGBoost leads the comparison; default XGBoost follows closely.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26080"/>
            <a:ext cx="3291840" cy="132588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2926080"/>
            <a:ext cx="54864" cy="132588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59" y="3035808"/>
            <a:ext cx="2971800" cy="11430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MARGIN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Strong challenger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SVM (RBF) reaches 94.575% and is close to baseline XGBoost.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526280"/>
            <a:ext cx="3291840" cy="132588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0080" y="4526280"/>
            <a:ext cx="54864" cy="132588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59" y="4636008"/>
            <a:ext cx="2971800" cy="11430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BASELINE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Still competitive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Logistic Regression reaches 93.775% with a simpler modelling assumption.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6492240" cy="4206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Gradient Boosting and Random Forest provide solid ensemble baselines.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KNN performance is lower in the high-dimensional one-hot encoded feature space.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600"/>
              <a:t>Naive Bayes is lowest among the executed comparison, consistent with a restrictive independence assumption.</a:t>
            </a:r>
          </a:p>
          <a:p>
            <a:pPr>
              <a:spcAft>
                <a:spcPts val="400"/>
              </a:spcAft>
              <a:defRPr sz="1600">
                <a:solidFill>
                  <a:srgbClr val="F8FAFD"/>
                </a:solidFill>
                <a:latin typeface="Aptos"/>
              </a:defRPr>
            </a:pPr>
            <a:r>
              <a:rPr sz="1700"/>
              <a:t>The tuning stage adds measurable improvement to XGBoost.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Confusion Matrix: Tuned XGBoost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Actual notebook output — class-level performance of the final model</a:t>
            </a:r>
          </a:p>
        </p:txBody>
      </p:sp>
      <p:pic>
        <p:nvPicPr>
          <p:cNvPr id="5" name="Picture 4" descr="tuned_xgb_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34440"/>
            <a:ext cx="6766560" cy="5390311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909560" y="1325880"/>
            <a:ext cx="3108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2588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35607"/>
            <a:ext cx="27889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HIGH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0.98 / 0.97 / 0.97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precision / recall /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09560" y="2788920"/>
            <a:ext cx="3108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909560" y="278892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092440" y="2898648"/>
            <a:ext cx="27889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LOW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0.97 / 0.96 / 0.97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precision / recall / F1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09560" y="4251960"/>
            <a:ext cx="310896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909560" y="425196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92440" y="4361688"/>
            <a:ext cx="2788920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MEDIUM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0.93 / 0.95 / 0.94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precision / recall / F1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09560" y="5715000"/>
            <a:ext cx="3108960" cy="6400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>
              <a:defRPr sz="1200" b="0">
                <a:solidFill>
                  <a:srgbClr val="A6B5C9"/>
                </a:solidFill>
                <a:latin typeface="Aptos"/>
              </a:defRPr>
            </a:pPr>
            <a:r>
              <a:rPr sz="1600"/>
              <a:t>The Medium class is the most challenging class in several model outputs; the final model still reaches 0.94 F1 for Medium.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Five-Fold Stratified Cross-Validation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Baseline XGBoost stability check using macro F1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417320"/>
            <a:ext cx="1920240" cy="11887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23760" y="1417320"/>
            <a:ext cx="54864" cy="11887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406640" y="1527048"/>
            <a:ext cx="16002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 dirty="0"/>
              <a:t>MEAN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 dirty="0"/>
              <a:t>0.9</a:t>
            </a:r>
            <a:r>
              <a:rPr lang="en-US" sz="1700" dirty="0"/>
              <a:t>404</a:t>
            </a:r>
            <a:endParaRPr sz="1700" dirty="0"/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 dirty="0"/>
              <a:t>macro F1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1417320"/>
            <a:ext cx="1920240" cy="11887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72600" y="1417320"/>
            <a:ext cx="54864" cy="11887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555480" y="1527048"/>
            <a:ext cx="1600200" cy="10058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STD. DEV.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0.00727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fold variation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3063240"/>
            <a:ext cx="402336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 dirty="0"/>
              <a:t>Fold 1: 0.92</a:t>
            </a:r>
            <a:r>
              <a:rPr lang="en-US" sz="1700" dirty="0"/>
              <a:t>88</a:t>
            </a:r>
            <a:endParaRPr sz="1700" dirty="0"/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 dirty="0"/>
              <a:t>Fold 2: 0.94</a:t>
            </a:r>
            <a:r>
              <a:rPr lang="en-US" sz="1700" dirty="0"/>
              <a:t>26</a:t>
            </a:r>
            <a:endParaRPr sz="1700" dirty="0"/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 dirty="0"/>
              <a:t>Fold 3: 0.94</a:t>
            </a:r>
            <a:r>
              <a:rPr lang="en-US" sz="1700" dirty="0"/>
              <a:t>32</a:t>
            </a:r>
            <a:endParaRPr sz="1700" dirty="0"/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 dirty="0"/>
              <a:t>Fold 4: 0.94</a:t>
            </a:r>
            <a:r>
              <a:rPr lang="en-US" sz="1700" dirty="0"/>
              <a:t>25</a:t>
            </a:r>
            <a:endParaRPr sz="1700" dirty="0"/>
          </a:p>
          <a:p>
            <a:pPr>
              <a:spcAft>
                <a:spcPts val="400"/>
              </a:spcAft>
              <a:defRPr sz="1500">
                <a:solidFill>
                  <a:srgbClr val="F8FAFD"/>
                </a:solidFill>
                <a:latin typeface="Aptos"/>
              </a:defRPr>
            </a:pPr>
            <a:r>
              <a:rPr sz="1700" dirty="0"/>
              <a:t>Fold 5: 0.94</a:t>
            </a:r>
            <a:r>
              <a:rPr lang="en-US" sz="1700" dirty="0"/>
              <a:t>50</a:t>
            </a:r>
            <a:endParaRPr sz="1700" dirty="0"/>
          </a:p>
        </p:txBody>
      </p:sp>
      <p:sp>
        <p:nvSpPr>
          <p:cNvPr id="13" name="TextBox 12"/>
          <p:cNvSpPr txBox="1"/>
          <p:nvPr/>
        </p:nvSpPr>
        <p:spPr>
          <a:xfrm>
            <a:off x="7223760" y="5257800"/>
            <a:ext cx="3931920" cy="86868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200" b="0">
                <a:solidFill>
                  <a:srgbClr val="A6B5C9"/>
                </a:solidFill>
                <a:latin typeface="Aptos"/>
              </a:defRPr>
            </a:pPr>
            <a:r>
              <a:rPr sz="1600"/>
              <a:t>StratifiedKFold preserves the relative class composition across folds, making the validation estimate more consistent for this multiclass target.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14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2596CB2-87B9-4323-AE71-3F0EEF023B7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76656" y="1819920"/>
            <a:ext cx="6263640" cy="419683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Hyperparameter Tuning with RandomizedSearchCV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Targeted search for a stronger XGBoost 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210312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1783079" cy="105156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SEARCH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20 candidates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RandomizedSearchCV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788920" y="1783080"/>
            <a:ext cx="502920" cy="292608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383280" y="1325880"/>
            <a:ext cx="210312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383280" y="132588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566160" y="1435607"/>
            <a:ext cx="178307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VALIDATION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5 folds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StratifiedKFold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532120" y="1783080"/>
            <a:ext cx="502920" cy="292608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126480" y="1325880"/>
            <a:ext cx="210312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26480" y="1325880"/>
            <a:ext cx="54864" cy="123444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09360" y="1435607"/>
            <a:ext cx="178307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SCORING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f1_macro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model selection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275320" y="1783080"/>
            <a:ext cx="502920" cy="292608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869680" y="1325880"/>
            <a:ext cx="210312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869680" y="1325880"/>
            <a:ext cx="54864" cy="1234440"/>
          </a:xfrm>
          <a:prstGeom prst="rect">
            <a:avLst/>
          </a:prstGeom>
          <a:solidFill>
            <a:srgbClr val="E79E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52559" y="1435607"/>
            <a:ext cx="1783079" cy="10515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RESULT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0.953790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best CV macro F1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2971800"/>
            <a:ext cx="5212080" cy="24231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40080" y="2971800"/>
            <a:ext cx="54864" cy="24231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2959" y="3081528"/>
            <a:ext cx="489204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SELECTED PARAMETERS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600"/>
              <a:t>n_estimators = 400</a:t>
            </a:r>
            <a:br/>
            <a:r>
              <a:rPr sz="1600"/>
              <a:t>max_depth = 5</a:t>
            </a:r>
            <a:br/>
            <a:r>
              <a:rPr sz="1600"/>
              <a:t>learning_rate = 0.1</a:t>
            </a:r>
            <a:br/>
            <a:r>
              <a:rPr sz="1600"/>
              <a:t>subsample = 0.8</a:t>
            </a:r>
            <a:br/>
            <a:r>
              <a:rPr sz="1600"/>
              <a:t>colsample_bytree = 0.8</a:t>
            </a:r>
            <a:br/>
            <a:r>
              <a:rPr sz="1600"/>
              <a:t>min_child_weight = 7</a:t>
            </a:r>
            <a:br/>
            <a:r>
              <a:rPr sz="1600"/>
              <a:t>gamma = 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2971800"/>
            <a:ext cx="5029200" cy="24231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172200" y="2971800"/>
            <a:ext cx="54864" cy="242316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355080" y="3081528"/>
            <a:ext cx="4709160" cy="22402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TUNING IMPACT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Baseline XGBoost</a:t>
            </a:r>
            <a:br/>
            <a:r>
              <a:rPr sz="1700"/>
              <a:t>94.625%</a:t>
            </a:r>
            <a:br/>
            <a:br/>
            <a:r>
              <a:rPr sz="1700"/>
              <a:t>Tuned XGBoost</a:t>
            </a:r>
            <a:br/>
            <a:r>
              <a:rPr sz="1700"/>
              <a:t>95.975%</a:t>
            </a:r>
            <a:br/>
            <a:br/>
            <a:r>
              <a:rPr sz="1700"/>
              <a:t>Improvement: +1.35 percentage points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806440"/>
            <a:ext cx="1042416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1300" b="0">
                <a:solidFill>
                  <a:srgbClr val="A6B5C9"/>
                </a:solidFill>
                <a:latin typeface="Aptos"/>
              </a:defRPr>
            </a:pPr>
            <a:r>
              <a:rPr sz="1600"/>
              <a:t>The tuned model was selected after cross-validated hyperparameter search, then evaluated on the held-out test set.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Tuned XGBoost: Final Test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Held-out test set: 4,000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25880"/>
            <a:ext cx="320040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325880"/>
            <a:ext cx="54864" cy="14173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435607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TEST ACCURACY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95.975%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strongest reported result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325880"/>
            <a:ext cx="320040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114800" y="1325880"/>
            <a:ext cx="54864" cy="14173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297680" y="1435607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MACRO F1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≈ 0.96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balanced across classes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89520" y="1325880"/>
            <a:ext cx="320040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7589520" y="1325880"/>
            <a:ext cx="54864" cy="14173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435607"/>
            <a:ext cx="28803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WEIGHTED F1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≈ 0.96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overall test-set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00400"/>
            <a:ext cx="137160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1">
                <a:solidFill>
                  <a:srgbClr val="A6B5C9"/>
                </a:solidFill>
                <a:latin typeface="Aptos"/>
              </a:defRPr>
            </a:pPr>
            <a:r>
              <a:rPr sz="1700"/>
              <a:t>CLASS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200400"/>
            <a:ext cx="137160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1">
                <a:solidFill>
                  <a:srgbClr val="A6B5C9"/>
                </a:solidFill>
                <a:latin typeface="Aptos"/>
              </a:defRPr>
            </a:pPr>
            <a:r>
              <a:rPr sz="1700"/>
              <a:t>PRECISION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200400"/>
            <a:ext cx="137160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1">
                <a:solidFill>
                  <a:srgbClr val="A6B5C9"/>
                </a:solidFill>
                <a:latin typeface="Aptos"/>
              </a:defRPr>
            </a:pPr>
            <a:r>
              <a:rPr sz="1700"/>
              <a:t>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0400"/>
            <a:ext cx="91440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100" b="1">
                <a:solidFill>
                  <a:srgbClr val="A6B5C9"/>
                </a:solidFill>
                <a:latin typeface="Aptos"/>
              </a:defRPr>
            </a:pPr>
            <a:r>
              <a:rPr sz="1700"/>
              <a:t>F1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657600"/>
            <a:ext cx="2011680" cy="5029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54864" cy="5029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2959" y="3767328"/>
            <a:ext cx="169164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3730752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3730752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3730752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4315968"/>
            <a:ext cx="2011680" cy="5029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4315968"/>
            <a:ext cx="54864" cy="50292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2959" y="4425696"/>
            <a:ext cx="169164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Low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88920" y="4389120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17720" y="4389120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4389120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4974336"/>
            <a:ext cx="2011680" cy="5029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40080" y="4974336"/>
            <a:ext cx="54864" cy="50292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22959" y="5084064"/>
            <a:ext cx="1691640" cy="32004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Medium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88920" y="5047488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17720" y="5047488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5047488"/>
            <a:ext cx="91440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500" b="1">
                <a:solidFill>
                  <a:srgbClr val="F8FAFD"/>
                </a:solidFill>
                <a:latin typeface="Aptos"/>
              </a:defRPr>
            </a:pPr>
            <a:r>
              <a:rPr sz="1700"/>
              <a:t>0.94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3291840"/>
            <a:ext cx="3108960" cy="2011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/>
              <a:t>High and Low are classified strongly; Medium remains the more difficult boundary class.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/>
              <a:t>The final model improves over baseline XGBoost while preserving strong class-level F1.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Feature Importance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Top transformed features from the tuned XGBoost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09560" y="1371600"/>
            <a:ext cx="2971800" cy="141732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909560" y="1371600"/>
            <a:ext cx="54864" cy="141732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92440" y="1481328"/>
            <a:ext cx="2651760" cy="12344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TOP FEATURE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Routine_Task_Percentage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importance = 0.099726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09560" y="4133088"/>
            <a:ext cx="3200400" cy="182880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 dirty="0" err="1"/>
              <a:t>Job_Level_Senior</a:t>
            </a:r>
            <a:r>
              <a:rPr sz="1700" dirty="0"/>
              <a:t> — 0.051596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 dirty="0" err="1"/>
              <a:t>Tasks_Automated_Percentage</a:t>
            </a:r>
            <a:r>
              <a:rPr sz="1700" dirty="0"/>
              <a:t> — 0.049553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 dirty="0" err="1"/>
              <a:t>Industry_Education</a:t>
            </a:r>
            <a:r>
              <a:rPr sz="1700" dirty="0"/>
              <a:t> — 0.045797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 dirty="0" err="1"/>
              <a:t>Industry_Healthcare</a:t>
            </a:r>
            <a:r>
              <a:rPr sz="1700" dirty="0"/>
              <a:t> — 0.045344</a:t>
            </a:r>
          </a:p>
          <a:p>
            <a:pPr>
              <a:spcAft>
                <a:spcPts val="400"/>
              </a:spcAft>
              <a:defRPr sz="1400">
                <a:solidFill>
                  <a:srgbClr val="F8FAFD"/>
                </a:solidFill>
                <a:latin typeface="Aptos"/>
              </a:defRPr>
            </a:pPr>
            <a:r>
              <a:rPr sz="1700" dirty="0" err="1"/>
              <a:t>Job_Level_Entry</a:t>
            </a:r>
            <a:r>
              <a:rPr sz="1700" dirty="0"/>
              <a:t> — 0.043095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17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AFA3C3B-3D1C-43D3-B192-EA71A057F7E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21792" y="1435608"/>
            <a:ext cx="6582272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Streamlit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Interactive application layer over the modelling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234440"/>
            <a:ext cx="7132320" cy="502920"/>
          </a:xfrm>
          <a:prstGeom prst="rect">
            <a:avLst/>
          </a:prstGeom>
          <a:solidFill>
            <a:srgbClr val="14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1353312"/>
            <a:ext cx="438912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>
              <a:defRPr sz="1300" b="1">
                <a:solidFill>
                  <a:srgbClr val="F8FAFD"/>
                </a:solidFill>
                <a:latin typeface="Aptos"/>
              </a:defRPr>
            </a:pPr>
            <a:r>
              <a:rPr sz="1700"/>
              <a:t>AI Impact - Job Layoff Risk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164592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000" b="1">
                <a:solidFill>
                  <a:srgbClr val="162234"/>
                </a:solidFill>
                <a:latin typeface="Aptos"/>
              </a:defRPr>
            </a:pPr>
            <a:r>
              <a:rPr sz="1700"/>
              <a:t>Data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874519"/>
            <a:ext cx="164592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000" b="1">
                <a:solidFill>
                  <a:srgbClr val="162234"/>
                </a:solidFill>
                <a:latin typeface="Aptos"/>
              </a:defRPr>
            </a:pPr>
            <a:r>
              <a:rPr sz="1700"/>
              <a:t>Model Comparison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7720" y="1874519"/>
            <a:ext cx="1645920" cy="27432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algn="ctr">
              <a:defRPr sz="1000" b="1">
                <a:solidFill>
                  <a:srgbClr val="162234"/>
                </a:solidFill>
                <a:latin typeface="Aptos"/>
              </a:defRPr>
            </a:pPr>
            <a:r>
              <a:rPr sz="1700"/>
              <a:t>Predict 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8407" y="3538728"/>
            <a:ext cx="274320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>
              <a:defRPr sz="900" b="1">
                <a:solidFill>
                  <a:srgbClr val="162234"/>
                </a:solidFill>
                <a:latin typeface="Aptos"/>
              </a:defRPr>
            </a:pPr>
            <a:r>
              <a:rPr sz="1700"/>
              <a:t>Layoff Risk Distribution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78808" y="3538728"/>
            <a:ext cx="274320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>
              <a:defRPr sz="900" b="1">
                <a:solidFill>
                  <a:srgbClr val="162234"/>
                </a:solidFill>
                <a:latin typeface="Aptos"/>
              </a:defRPr>
            </a:pPr>
            <a:r>
              <a:rPr sz="1700"/>
              <a:t>Model Accuracy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7" y="5184648"/>
            <a:ext cx="5943600" cy="228600"/>
          </a:xfrm>
          <a:prstGeom prst="rect">
            <a:avLst/>
          </a:prstGeom>
          <a:noFill/>
        </p:spPr>
        <p:txBody>
          <a:bodyPr wrap="square">
            <a:normAutofit fontScale="55000" lnSpcReduction="20000"/>
          </a:bodyPr>
          <a:lstStyle/>
          <a:p>
            <a:pPr>
              <a:defRPr sz="900" b="1">
                <a:solidFill>
                  <a:srgbClr val="162234"/>
                </a:solidFill>
                <a:latin typeface="Aptos"/>
              </a:defRPr>
            </a:pPr>
            <a:r>
              <a:rPr sz="1700" dirty="0"/>
              <a:t>Prediction / report / confusion matrix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29600" y="1371600"/>
            <a:ext cx="2926080" cy="109728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600" y="1371600"/>
            <a:ext cx="54864" cy="109728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12480" y="1481328"/>
            <a:ext cx="2606040" cy="91440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TAB 1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Data Overview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metrics, charts, first 20 rows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2697480"/>
            <a:ext cx="2926080" cy="109728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229600" y="2697480"/>
            <a:ext cx="54864" cy="109728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80" y="2807208"/>
            <a:ext cx="2606040" cy="9144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TAB 2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Model Comparison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accuracy, report, confusion matrix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4023360"/>
            <a:ext cx="2926080" cy="109728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0" y="4023360"/>
            <a:ext cx="54864" cy="109728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80" y="4133088"/>
            <a:ext cx="2606040" cy="91440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TAB 3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Predict Risk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sliders, selectboxes, prediction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5394960"/>
            <a:ext cx="2971800" cy="82296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>
              <a:spcAft>
                <a:spcPts val="400"/>
              </a:spcAft>
              <a:defRPr sz="1200">
                <a:solidFill>
                  <a:srgbClr val="F8FAFD"/>
                </a:solidFill>
                <a:latin typeface="Aptos"/>
              </a:defRPr>
            </a:pPr>
            <a:r>
              <a:rPr sz="1700"/>
              <a:t>Uses Streamlit, pandas, NumPy, Plotly, scikit-learn and XGBoost.</a:t>
            </a:r>
          </a:p>
          <a:p>
            <a:pPr>
              <a:spcAft>
                <a:spcPts val="400"/>
              </a:spcAft>
              <a:defRPr sz="1200">
                <a:solidFill>
                  <a:srgbClr val="F8FAFD"/>
                </a:solidFill>
                <a:latin typeface="Aptos"/>
              </a:defRPr>
            </a:pPr>
            <a:r>
              <a:rPr sz="1700"/>
              <a:t>Uses @st.cache_data and @st.cache_resource to reduce repeated computation.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18</a:t>
            </a:r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1E0D57F1-D0B6-461F-B0B1-03DB1206E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371600"/>
            <a:ext cx="7297615" cy="464515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Streamlit Workflow, Requirements &amp; Use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What the deployed layer actually does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246120" cy="10515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1234440"/>
            <a:ext cx="54864" cy="10515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344168"/>
            <a:ext cx="2926079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Load Excel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DataFrame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776472" y="1627632"/>
            <a:ext cx="347472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4297680" y="1234440"/>
            <a:ext cx="3246120" cy="10515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297680" y="1234440"/>
            <a:ext cx="54864" cy="105156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480560" y="1344168"/>
            <a:ext cx="2926079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Identify X/y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Feature lists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571232" y="1627632"/>
            <a:ext cx="347472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092440" y="1234440"/>
            <a:ext cx="3246120" cy="10515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092440" y="1234440"/>
            <a:ext cx="54864" cy="105156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344168"/>
            <a:ext cx="2926079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Preprocess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ColumnTransformer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743200"/>
            <a:ext cx="3246120" cy="10515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2920" y="2743200"/>
            <a:ext cx="54864" cy="10515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94360" y="2852928"/>
            <a:ext cx="2926079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 dirty="0"/>
              <a:t>Train  models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 dirty="0"/>
              <a:t>Pipelines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776472" y="3136392"/>
            <a:ext cx="347472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4297680" y="2743200"/>
            <a:ext cx="3246120" cy="10515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2743200"/>
            <a:ext cx="54864" cy="105156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60" y="2852928"/>
            <a:ext cx="2926079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Compare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Accuracy + reports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571232" y="3136392"/>
            <a:ext cx="347472" cy="228600"/>
          </a:xfrm>
          <a:prstGeom prst="rightArrow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092440" y="2743200"/>
            <a:ext cx="3246120" cy="10515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092440" y="2743200"/>
            <a:ext cx="54864" cy="105156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75320" y="2852928"/>
            <a:ext cx="2926079" cy="868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Predict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Risk + probabilities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4480560"/>
            <a:ext cx="338328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" y="4480560"/>
            <a:ext cx="54864" cy="123444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22959" y="4590288"/>
            <a:ext cx="3063240" cy="105156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FUNCTIONAL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Accept job profile → return risk + class probabilities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FR-01 … FR-14 are documented in the project.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4480560"/>
            <a:ext cx="338328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389120" y="4480560"/>
            <a:ext cx="54864" cy="123444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72000" y="4590288"/>
            <a:ext cx="3063240" cy="105156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NON-FUNCTIONAL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Usability • caching • reproducibility • robustness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random_state=42; cached loading/training.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38160" y="4480560"/>
            <a:ext cx="3383280" cy="123444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138160" y="4480560"/>
            <a:ext cx="54864" cy="123444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321040" y="4590288"/>
            <a:ext cx="3063240" cy="105156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700"/>
              <a:t>APPLICATIONS</a:t>
            </a:r>
          </a:p>
          <a:p>
            <a:pPr>
              <a:defRPr sz="2300" b="1">
                <a:solidFill>
                  <a:srgbClr val="F8FAFD"/>
                </a:solidFill>
                <a:latin typeface="Aptos Display"/>
              </a:defRPr>
            </a:pPr>
            <a:r>
              <a:rPr sz="1700"/>
              <a:t>Workforce planning • reskilling • research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700"/>
              <a:t>Analytical support, not automatic employment decisions.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8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 fontScale="25000" lnSpcReduction="20000"/>
          </a:bodyPr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92608"/>
            <a:ext cx="1097280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2800" b="1">
                <a:solidFill>
                  <a:srgbClr val="F8FAFD"/>
                </a:solidFill>
                <a:latin typeface="Aptos Display"/>
              </a:defRPr>
            </a:pPr>
            <a:r>
              <a:rPr sz="2800"/>
              <a:t>Limitations, Future Scope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841248"/>
            <a:ext cx="1078992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150">
                <a:solidFill>
                  <a:srgbClr val="A6B5C9"/>
                </a:solidFill>
                <a:latin typeface="Aptos"/>
              </a:defRPr>
            </a:pPr>
            <a:r>
              <a:rPr sz="1700"/>
              <a:t>Responsible interpretation is part of the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80160"/>
            <a:ext cx="3383280" cy="42519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IN" dirty="0"/>
              <a:t> 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640080" y="1280160"/>
            <a:ext cx="54864" cy="4251960"/>
          </a:xfrm>
          <a:prstGeom prst="rect">
            <a:avLst/>
          </a:prstGeom>
          <a:solidFill>
            <a:srgbClr val="26B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1389888"/>
            <a:ext cx="306324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500" dirty="0"/>
              <a:t>LIMITATIONS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500" dirty="0"/>
              <a:t>• Association, not causation</a:t>
            </a:r>
            <a:br>
              <a:rPr dirty="0"/>
            </a:br>
            <a:r>
              <a:rPr sz="1500" dirty="0"/>
              <a:t>• External/future data may differ</a:t>
            </a:r>
            <a:br>
              <a:rPr dirty="0"/>
            </a:br>
            <a:r>
              <a:rPr sz="1500" dirty="0"/>
              <a:t>• Dashboard trains models at </a:t>
            </a:r>
            <a:r>
              <a:rPr lang="en-US" sz="1500" dirty="0"/>
              <a:t>     </a:t>
            </a:r>
            <a:r>
              <a:rPr sz="1500" dirty="0"/>
              <a:t>runtime</a:t>
            </a:r>
            <a:br>
              <a:rPr dirty="0"/>
            </a:br>
            <a:r>
              <a:rPr sz="1500" dirty="0"/>
              <a:t>• Dashboard uses baseline </a:t>
            </a:r>
            <a:r>
              <a:rPr sz="1500" dirty="0" err="1"/>
              <a:t>XGBoost</a:t>
            </a:r>
            <a:br>
              <a:rPr dirty="0"/>
            </a:br>
            <a:r>
              <a:rPr sz="1500" dirty="0"/>
              <a:t>• Probability chart is not automatically calibrated</a:t>
            </a:r>
            <a:br>
              <a:rPr dirty="0"/>
            </a:br>
            <a:r>
              <a:rPr sz="1500" dirty="0"/>
              <a:t>• Employment use requires fairness + human oversight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80160"/>
            <a:ext cx="3383280" cy="42519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389120" y="1280160"/>
            <a:ext cx="54864" cy="4251960"/>
          </a:xfrm>
          <a:prstGeom prst="rect">
            <a:avLst/>
          </a:prstGeom>
          <a:solidFill>
            <a:srgbClr val="3671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0" y="1389888"/>
            <a:ext cx="306324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500"/>
              <a:t>FUTURE SCOPE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500"/>
              <a:t>• Save/load trained pipeline</a:t>
            </a:r>
            <a:br/>
            <a:r>
              <a:rPr sz="1500"/>
              <a:t>• Deploy tuned XGBoost in dashboard</a:t>
            </a:r>
            <a:br/>
            <a:r>
              <a:rPr sz="1500"/>
              <a:t>• Add full notebook model library</a:t>
            </a:r>
            <a:br/>
            <a:r>
              <a:rPr sz="1500"/>
              <a:t>• Add SHAP explanations</a:t>
            </a:r>
            <a:br/>
            <a:r>
              <a:rPr sz="1500"/>
              <a:t>• Calibrate probabilities</a:t>
            </a:r>
            <a:br/>
            <a:r>
              <a:rPr sz="1500"/>
              <a:t>• Add fairness/subgroup evaluation</a:t>
            </a:r>
            <a:br/>
            <a:r>
              <a:rPr sz="1500"/>
              <a:t>• Add validation, export, versioning and monitoring</a:t>
            </a:r>
            <a:br/>
            <a:r>
              <a:rPr sz="1500"/>
              <a:t>• External and future-period testing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80160"/>
            <a:ext cx="3383280" cy="4251960"/>
          </a:xfrm>
          <a:prstGeom prst="roundRect">
            <a:avLst/>
          </a:prstGeom>
          <a:solidFill>
            <a:srgbClr val="14243D"/>
          </a:solidFill>
          <a:ln>
            <a:solidFill>
              <a:srgbClr val="3B4F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138160" y="1280160"/>
            <a:ext cx="54864" cy="4251960"/>
          </a:xfrm>
          <a:prstGeom prst="rect">
            <a:avLst/>
          </a:prstGeom>
          <a:solidFill>
            <a:srgbClr val="3BB1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389888"/>
            <a:ext cx="3063240" cy="4069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1050" b="1">
                <a:solidFill>
                  <a:srgbClr val="A6B5C9"/>
                </a:solidFill>
                <a:latin typeface="Aptos"/>
              </a:defRPr>
            </a:pPr>
            <a:r>
              <a:rPr sz="1500"/>
              <a:t>CONCLUSION</a:t>
            </a:r>
          </a:p>
          <a:p>
            <a:pPr>
              <a:defRPr sz="1050">
                <a:solidFill>
                  <a:srgbClr val="E2EAF3"/>
                </a:solidFill>
                <a:latin typeface="Aptos"/>
              </a:defRPr>
            </a:pPr>
            <a:r>
              <a:rPr sz="1500"/>
              <a:t>The project develops a complete supervised-learning workflow for High, Medium and Low layoff-risk prediction.</a:t>
            </a:r>
            <a:br/>
            <a:br/>
            <a:r>
              <a:rPr sz="1500"/>
              <a:t>Tuned XGBoost achieves 95.975% test accuracy.</a:t>
            </a:r>
            <a:br/>
            <a:br/>
            <a:r>
              <a:rPr sz="1500"/>
              <a:t>Streamlit extends the work into an interactive analytical application.</a:t>
            </a:r>
            <a:br/>
            <a:br/>
            <a:r>
              <a:rPr sz="1500"/>
              <a:t>Use the system as decision support—not as an automatic employment decision mechanism.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06440"/>
            <a:ext cx="108813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>
              <a:defRPr sz="2500" b="1">
                <a:solidFill>
                  <a:srgbClr val="26BECC"/>
                </a:solidFill>
                <a:latin typeface="Aptos"/>
              </a:defRPr>
            </a:pPr>
            <a:r>
              <a:rPr sz="1700"/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92240"/>
            <a:ext cx="594360" cy="182880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r">
              <a:defRPr sz="900">
                <a:solidFill>
                  <a:srgbClr val="A6B5C9"/>
                </a:solidFill>
                <a:latin typeface="Aptos"/>
              </a:defRPr>
            </a:pPr>
            <a:r>
              <a:rPr sz="900"/>
              <a:t>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1629</Words>
  <Application>Microsoft Office PowerPoint</Application>
  <PresentationFormat>Widescreen</PresentationFormat>
  <Paragraphs>354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JAYAM JAIN</dc:creator>
  <cp:keywords/>
  <dc:description>generated using python-pptx</dc:description>
  <cp:lastModifiedBy>BHARAT PRAJAPAT</cp:lastModifiedBy>
  <cp:revision>5</cp:revision>
  <dcterms:created xsi:type="dcterms:W3CDTF">2013-01-27T09:14:16Z</dcterms:created>
  <dcterms:modified xsi:type="dcterms:W3CDTF">2026-08-20T11:39:32Z</dcterms:modified>
  <cp:category/>
</cp:coreProperties>
</file>